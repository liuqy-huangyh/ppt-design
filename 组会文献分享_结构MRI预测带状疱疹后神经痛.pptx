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1298448"/>
            <a:ext cx="50292" cy="331012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1673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组会文献分享  /  JOURNAL CLUB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755648"/>
            <a:ext cx="8595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结构 MRI 能否预测
带状疱疹后神经痛？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3310128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急性与亚急性带状疱疹神经痛患者的回顾性研究（n = 211）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4128" y="4041648"/>
            <a:ext cx="7406640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20624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Pain and Therapy  2026;15:269–289   ·   doi:10.1007/s40122-025-00796-6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4553712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Wu D, Peng B, Hua Y, Geng W, Huang B, … Dai Y, Ji J, Zhao 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86460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温州医科大学附属第五医院 · 浙江省影像与介入医学重点实验室；中科院苏州医工所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594360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分享人：____________　　日期：2026-10-27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82735" y="1371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EVIDENCE  /  CLINICAL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先给结论  /  TAKE-HOME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脑结构可以提前标记：谁更可能走向慢性疼痛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00784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一句话：在急性/亚急期做一次 T1 结构 MRI，能从灰质体积里读出三个月后的风险信号 —— 但目前只是「增强」，还不是「替代」。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9572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54.98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96896" y="29077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116 / 211 例在 90 天后仍疼痛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803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PHN 发生率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05656" y="2487168"/>
            <a:ext cx="10972" cy="1691640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39572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0.748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7064" y="29077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564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临床 + 影像联合模型 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803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95% CI 0.677–0.816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35823" y="2487168"/>
            <a:ext cx="10972" cy="1691640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7" y="2395728"/>
            <a:ext cx="3017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5" y="29077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7" y="34564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灰质体积显著差异的脑区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3567" y="38039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5 个下降 / 7 个上升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" y="4718304"/>
            <a:ext cx="10765231" cy="1042415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718304"/>
            <a:ext cx="45720" cy="1042415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846320"/>
            <a:ext cx="10216591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边界先说清：回顾性、单中心、无独立验证集、无交叉验证；影像仅比临床高 0.015 AUC，
且在 70–89 岁亚组中 0.659 反而低于临床单用的 0.702。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来源：Pain Ther (2026) 15:269–289 · Abstract / Results / Table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临床背景  / 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从皮疹到慢性痛：90 天是分界线，也是干预窗口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591056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定义决定随访窗口：皮疹愈合后、同一区域疼痛持续超过 90 天，才诊断为 PHN。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10332720" cy="18288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670048"/>
            <a:ext cx="3154680" cy="27432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06624"/>
            <a:ext cx="3154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急性  &lt; 30 天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2670048"/>
            <a:ext cx="3749039" cy="27432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2706624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亚急性  30–90 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2670048"/>
            <a:ext cx="3401568" cy="274320"/>
          </a:xfrm>
          <a:prstGeom prst="rect">
            <a:avLst/>
          </a:prstGeom>
          <a:solidFill>
            <a:srgbClr val="E4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706624"/>
            <a:ext cx="34015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PHN  &gt; 90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8913" y="2926079"/>
            <a:ext cx="10972" cy="201168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593" y="2926079"/>
            <a:ext cx="10972" cy="201168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2633" y="2926079"/>
            <a:ext cx="10972" cy="201168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241633" y="2926079"/>
            <a:ext cx="10972" cy="201168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16382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皮疹出现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6382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30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16382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90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316382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持续痛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9502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发病率 3.4–16.7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4334256"/>
            <a:ext cx="299008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46227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≥50 岁人群每 1000 人年（亚太）；年龄是最稳定的临床危险因素。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9502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疫苗效力 91.2%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4334256"/>
            <a:ext cx="299008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46227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重组带状疱疹疫苗对 PHN 的预防效力，但接种意愿与认知仍是缺口。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6448" y="3950208"/>
            <a:ext cx="3310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负担不只疼痛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56448" y="4334256"/>
            <a:ext cx="299008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4462272"/>
            <a:ext cx="303580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焦虑、抑郁、睡眠障碍、认知受损，甚至自杀意念；治疗常长期且反复。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来源：Pain Ther (2026) 15:269–289 · Introduction（p.270–271）；欧洲指南对 PHN 的定义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机制  /  FROM PERIPHERY TO CORTEX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机制链条：外周敏化 → 中枢敏化 → 脑结构重塑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55648"/>
            <a:ext cx="3456432" cy="303580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956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49424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外周：神经损伤与炎症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852928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VZV 再激活 → 感觉神经节炎症、Aβ/Aδ/C 纤维脱髓鞘；
IL-6、TNF-α、前列腺素释放，TRPV1 敏化；
Nav1.7/1.8 ↑、Kv1.4 ↓ → 异位放电。
临床对应：疱疹期剧痛、痛觉过敏，皮疹区触诱发痛。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1" y="299923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0288" y="1755648"/>
            <a:ext cx="3456432" cy="303580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956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249424"/>
            <a:ext cx="2999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脊髓：中枢敏化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52928"/>
            <a:ext cx="299923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背角小胶质与星形胶质活化 → IL-1β、TNF-α、IL-6；
背角伤害性神经元兴奋性升高；
突触重塑被视为中枢敏化的关键驱动。
临床对应：痛阈下降、异常性疼痛持续、镇痛药反应变差。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99923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67344" y="1755648"/>
            <a:ext cx="3703320" cy="3035808"/>
          </a:xfrm>
          <a:prstGeom prst="rect">
            <a:avLst/>
          </a:prstGeom>
          <a:solidFill>
            <a:srgbClr val="E4D3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23376" y="1956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249424"/>
            <a:ext cx="3246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脑：结构重塑（本文落点）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2852928"/>
            <a:ext cx="32461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GMV ↓：中央前/后回、前扣带、壳核、豆状核、
尾状核、岛叶、海马旁回
GMV ↑：颞叶、丘脑、小脑
临床对应：结构改变可能先于可测得的功能变化出现。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102352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248656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证据强度：三段机制均来自既有文献的综合叙述，本文并未测量细胞或分子层面的改变；它只检验一件事 —— 急性/亚急期的 GMV 差异，是否与 90 天后是否患 PHN 相关。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Fig.1 机制示意与 Discussion 前段；GMV 方向出自其引用文献 23–26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研究缺口  / 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预测模型已经很多，但没有一个用过脑影像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8249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已有 PHN 预测模型（临床 / 血液 / 组学）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4846320" cy="73152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848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Cai 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09397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外周血炎症标志物 + 逻辑回归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20482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0.787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980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Lin 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807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6 种机器学习，GBDT 最优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6148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0.931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392424"/>
            <a:ext cx="4846320" cy="73152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511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Zhou 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20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代谢组学 + 3 种算法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747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&gt;0.90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245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Lu 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336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蛋白组学 + 逻辑回归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187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9011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AUC 越高越依赖血/组学，成本与可及性也越高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82496"/>
            <a:ext cx="10972" cy="3246120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824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影像证据的问题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299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只做横断面比较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30428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HZ 组 vs PHN 组，无法回答「谁会转成 PHN」。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9626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方向不一致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23697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Liu：小脑/豆状核↑、额叶↓；Cao：边缘/额/顶↓；Tang：丘脑↑。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95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不能个体化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169663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组水平差异 ≠ 个体风险概率，无法直接用于临床决策。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230368"/>
            <a:ext cx="10765231" cy="786384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5376672"/>
            <a:ext cx="10216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7F4EE"/>
                </a:solidFill>
                <a:latin typeface="Noto Sans SC"/>
                <a:ea typeface="Segoe UI"/>
                <a:cs typeface="Segoe UI"/>
              </a:rPr>
              <a:t>所以问题变成：急性/亚急期的灰质体积，能否在个体层面预测 90 天后的 PHN？把影像加进去，AUC 会不会真的变好？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Introduction（p.272–273）对既有预测模型的综述；引用文献 34–38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研究设计  /  COHORT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单中心回顾性队列：214 例住院患者，随访到 90 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55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71907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回顾性观察研究；温州医科大学附属第五医院疼痛科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14015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774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2023-02 — 2025-01 连续住院患者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72383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纳入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03580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&gt;18 岁；HZ 诊断；急性（&lt;30 d）或亚急性（30–90 d）神经痛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73075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排除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694175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随访缺失 1 例、颅脑 MRI 质量差 2 例 → 最终 211 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3891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结局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352543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门诊或电话随访；皮疹愈合后同一区域疼痛 &gt; 90 天 = PHN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047487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分组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10911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PHN 116 例（54.98%）　/　Non-PHN 95 例</a:t>
            </a:r>
          </a:p>
        </p:txBody>
      </p:sp>
      <p:pic>
        <p:nvPicPr>
          <p:cNvPr id="17" name="Picture 16" descr="a238864825cacd3af343eac0c2312c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45920"/>
            <a:ext cx="4572000" cy="387684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66560" y="5760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原文 Fig.2　研究流程图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来源：Methods · Data Collection / Data Processing（p.273–274）；图版取自原文 Fig.2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方法 1  / 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34 个候选危险因素，缺失值用多重插补处理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19072"/>
            <a:ext cx="3401568" cy="13716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47088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人口学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76272"/>
            <a:ext cx="3035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性别、年龄、身高、体重、BMI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61487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年龄 ≥50 岁另设二分类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719072"/>
            <a:ext cx="3401568" cy="13716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847088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疼痛特征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176272"/>
            <a:ext cx="3035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先兆痛、入院当日 NRS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761487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疼痛强度分轻/中/重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1" y="1719072"/>
            <a:ext cx="3401568" cy="13716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847088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皮疹特征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176272"/>
            <a:ext cx="3035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季节、侧别、皮节、病程、就诊延迟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761487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病程按天连续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383280"/>
            <a:ext cx="3401568" cy="13716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51129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共病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840480"/>
            <a:ext cx="3035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高血压、糖尿病、恶性肿瘤、CCI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42569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CCI 含 19 类疾病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3383280"/>
            <a:ext cx="3401568" cy="13716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51129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血清学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840480"/>
            <a:ext cx="3035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淋巴细胞计数/百分比、白蛋白、12 种细胞因子、NSE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442569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空腹 8 h 采血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28431" y="3383280"/>
            <a:ext cx="3401568" cy="13716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1" y="351129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影像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1311" y="3840480"/>
            <a:ext cx="303580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入院当日、治疗前 T1 结构像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4425696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排除用药与干预影响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901184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缺失 0.5–12.8%（身高体重、BMI、血清学）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35838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采用多重插补（MI），而不是删除样本 —— 这是它保住 211 例的原因。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为什么强调「治疗前」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35838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入院当天、任何镇痛或抗抑郁药之前扫描，排除了药物对脑结构的短期影响。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来源：Methods · Data Collection / Data Processing（p.273–275）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方法 2  /  IMAGING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1.5T 结构像 → 90 个 AAL 脑区的灰质体积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37360"/>
            <a:ext cx="1883664" cy="146304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4708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84831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32304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3D MPRAGE
1.5T Siemens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5184" y="2340864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1737360"/>
            <a:ext cx="1883664" cy="146304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84708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084831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标准化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432304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重采样 / 配准
到标准空间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340864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737360"/>
            <a:ext cx="1883664" cy="146304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84708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084831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校正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2432304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强度不均匀性
N3 算法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5" y="2340864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1737360"/>
            <a:ext cx="1883664" cy="146304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84708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084831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分割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432304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白质 / 灰质 / 脑脊液
去颅骨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340864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72016" y="1737360"/>
            <a:ext cx="1883664" cy="146304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84708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084831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分区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32304"/>
            <a:ext cx="16093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AAL 图谱
90 个 ROI → GMV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4198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扫描参数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37307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TR / 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0552" y="37307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Consolas"/>
                <a:ea typeface="Segoe UI"/>
                <a:cs typeface="Segoe UI"/>
              </a:rPr>
              <a:t>1540 / 2.88 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096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翻转角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30552" y="409651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Consolas"/>
                <a:ea typeface="Segoe UI"/>
                <a:cs typeface="Segoe UI"/>
              </a:rPr>
              <a:t>8°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44622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矩阵 / FOV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30552" y="4462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Consolas"/>
                <a:ea typeface="Segoe UI"/>
                <a:cs typeface="Segoe UI"/>
              </a:rPr>
              <a:t>240×256 / 215×230 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8280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层厚 / 层数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0552" y="482803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Consolas"/>
                <a:ea typeface="Segoe UI"/>
                <a:cs typeface="Segoe UI"/>
              </a:rPr>
              <a:t>1.0 mm / 176 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193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扫描时间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0552" y="51937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B1A18"/>
                </a:solidFill>
                <a:latin typeface="Consolas"/>
                <a:ea typeface="Segoe UI"/>
                <a:cs typeface="Segoe UI"/>
              </a:rPr>
              <a:t>约 8 min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419856"/>
            <a:ext cx="5394960" cy="228600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43600" y="3419856"/>
            <a:ext cx="45720" cy="2286000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9632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读到这里，记一个可疑点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3858768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摘要写的是 N4 偏置场校正，方法部分写的是 N3 —— 两处不一致。N3 与 N4 对灰质体积的影响不同，而全文没有说明最终用的是哪一个；这类细节会直接影响 ROI 数值的可复现性。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2" y="4846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建议追问作者：预处理软件与版本，以及 N3 / N4 的最终选择与敏感性分析。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来源：Methods · Image Data Acquisition / Imaging Data Preprocessing（p.275）；摘要与方法的 N3/N4 不一致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方法 3  /  STATISTICS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7 个临床变量 + 12 个影像特征，进入 ROC 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组间比较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4832" y="1700784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连续变量用 t 检验或 Kruskal-Wallis；分类变量用 χ²；事后 Bonferroni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多重比较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2" y="2523744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结果部分写 FDR 校正（P&lt;0.05），方法与摘要写 Bonferroni —— 口径不一致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38327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特征筛选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3346703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先按组间差异筛：7 个临床变量 + 12 个 GMV ROI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206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模型评估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2" y="4169663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ROC：AUC、准确率、敏感度、精确率；并按年龄分层（50–69 / 70–89）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建模路径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011680"/>
            <a:ext cx="4846320" cy="64008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1031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34 个候选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1214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临床 + 血清学 + 影像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2578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798064"/>
            <a:ext cx="4846320" cy="64008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8544" y="2889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组间显著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9077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7 临床 / 12 GMV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364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584448"/>
            <a:ext cx="4846320" cy="64008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8544" y="367588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ROC 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69417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影像 / 临床 / 联合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1513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370832"/>
            <a:ext cx="4846320" cy="64008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446227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年龄分层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4805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50–69 岁 / 70–89 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5212080"/>
            <a:ext cx="10765231" cy="731520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3232" y="5212080"/>
            <a:ext cx="45720" cy="731520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5358384"/>
            <a:ext cx="1021659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全文没有报告：交叉验证或独立测试集、校准曲线、决策曲线；也没有说明 AUC 的比较是否做了统计检验。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来源：Methods · Statistical Analysis（p.275）；Results · Table 3（p.279）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结果 1 / 3  /  CLINICAL RISK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年龄与病程信号最强；住院比例的方向出乎意料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8249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68249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PHN (n=116)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8249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Non-PHN (n=95)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682496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P 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938528"/>
            <a:ext cx="10765231" cy="12801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" y="2011679"/>
            <a:ext cx="8229600" cy="47548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011679"/>
            <a:ext cx="45720" cy="47548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06654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年龄（岁）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72.18 ± 11.02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06654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64.73 ± 11.73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06654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&lt; 0.001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2514599"/>
            <a:ext cx="8229600" cy="47548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" y="2514599"/>
            <a:ext cx="45720" cy="47548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5694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病程（天）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56946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26.5 (15, 42.75)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56946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12 (3, 27)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56946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&lt; 0.001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07238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BMI（kg/m²）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307238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22.57 ± 3.12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7238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23.69 ± 3.16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07238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57530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入院 NRS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57530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5 (4, 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57530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5 (4, 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57530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" y="4023359"/>
            <a:ext cx="8229600" cy="47548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" y="4023359"/>
            <a:ext cx="45720" cy="47548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07822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急性期住院（&lt;1 月）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0782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53.4 %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07822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83.2 %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407822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&lt; 0.001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58114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CCI 总分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5811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4 (3, 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58114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3 (2, 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458114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08406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皮节 T1–T4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508406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27.6 %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5084063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18.9 %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5084063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0.020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" y="5568695"/>
            <a:ext cx="8229600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1682496"/>
            <a:ext cx="2468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同时值得注意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201168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· 性别、季节、侧别、先兆痛、
  就诊延迟：均无差异
· 12 项细胞因子与 NSE：
  全部 P &gt; 0.05
  （与 Cai、Lin 结论相反）
· 急性期住院比例在 Non-PHN
  更高：提示住院人群的
  选择偏倚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" y="5413248"/>
            <a:ext cx="10765231" cy="621792"/>
          </a:xfrm>
          <a:prstGeom prst="rect">
            <a:avLst/>
          </a:prstGeom>
          <a:solidFill>
            <a:srgbClr val="1B1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" y="5522976"/>
            <a:ext cx="1021659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7F4EE"/>
                </a:solidFill>
                <a:latin typeface="Noto Sans SC"/>
                <a:ea typeface="Segoe UI"/>
                <a:cs typeface="Segoe UI"/>
              </a:rPr>
              <a:t>读法：年龄与病程是「老旧但可靠」的信号；血清学阴性说明这批样本与既往阳性研究的人群不同（含亚急性期）。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Table 1（p.276–278），此处选取组间显著的 7 个变量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结果 2 / 3  /  GRAY MATTER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12 个脑区：边缘系统与基底节「更大」，额颞叶「更小」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682496"/>
            <a:ext cx="5212080" cy="312724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7922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GMV 下降  /  5 个脑区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066543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PHN 组体积更小：与既往「退变/萎缩」方向一致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4323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左侧额下回（三角部）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73752" y="24323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2724912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8346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右侧额下回（眶部）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3752" y="28346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" y="3127248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236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左侧颞横回（Heschl）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3752" y="32369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" y="3529584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36393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左侧颞上回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2" y="36393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" y="3931920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40416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右侧豆状核（苍白球）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40416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0.043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682496"/>
            <a:ext cx="5212080" cy="3127248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3" y="179222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GMV 上升  /  7 个脑区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3" y="2066543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PHN 组体积更大：与既往横断面结论部分相反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3" y="24323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左侧后扣带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9" y="243230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01383" y="2724912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3" y="27660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右侧后扣带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9" y="27660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&lt; 0.001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01383" y="3058668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01383" y="309981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左侧海马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59" y="30998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&lt; 0.001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01383" y="3392424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3" y="343357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右侧海马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59" y="34335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&lt; 0.001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01383" y="3726180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1383" y="376732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左侧尾状核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76732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01383" y="4059936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01383" y="410108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右侧尾状核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59" y="41010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01383" y="4393692"/>
            <a:ext cx="4773168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01383" y="443484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左侧梭状回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59" y="44348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0.035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937760"/>
            <a:ext cx="107652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按功能系统归类：边缘系统（海马、后扣带）↑　·　基底节（尾状核↑、苍白球↓）　·　额颞枕皮层（额下回↓、颞横回↓、颞上回↓、梭状回↑）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5340096"/>
            <a:ext cx="10765231" cy="676656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9264" y="5449824"/>
            <a:ext cx="102165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判读前提：「体积变大」不等于「变好」。T1 只能给出体积，无法区分神经元增殖、突触密度增加，还是水肿与胶质增生。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Table 2（p.278），P 值为组间比较；方向依据 Results 正文表述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结果 3 / 3  / 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联合模型 AUC 0.748：确实提高，但只提高 0.015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45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全部患者（n = 211）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214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联合（临床 + 影像）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4952" y="1956816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B2E33"/>
                </a:solidFill>
                <a:latin typeface="Georgia"/>
                <a:ea typeface="Segoe UI"/>
                <a:cs typeface="Segoe UI"/>
              </a:rPr>
              <a:t>0.748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579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0.677 – 0.816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163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仅临床特征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2651760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1A18"/>
                </a:solidFill>
                <a:latin typeface="Georgia"/>
                <a:ea typeface="Segoe UI"/>
                <a:cs typeface="Segoe UI"/>
              </a:rPr>
              <a:t>0.733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8529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0.662 – 0.801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51129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仅 T1-MRI 影像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3346704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F6A61"/>
                </a:solidFill>
                <a:latin typeface="Georgia"/>
                <a:ea typeface="Segoe UI"/>
                <a:cs typeface="Segoe UI"/>
              </a:rPr>
              <a:t>0.649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5478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0.577 – 0.725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3895344"/>
            <a:ext cx="4937760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0416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按年龄分层（原文 Table 3）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7672" y="43342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T1-MRI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43342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临床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4334256"/>
            <a:ext cx="1188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联合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5902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50–69 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47672" y="4590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0.645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590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0.667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459028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0.722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9743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70–89 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7672" y="49743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0.583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9743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0.702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49743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Consolas"/>
                <a:ea typeface="Segoe UI"/>
                <a:cs typeface="Segoe UI"/>
              </a:rPr>
              <a:t>0.659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358384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注意 70–89 岁组：联合模型（0.659）低于临床单用（0.702）—— 影像在老年人里不是加分项。</a:t>
            </a:r>
          </a:p>
        </p:txBody>
      </p:sp>
      <p:pic>
        <p:nvPicPr>
          <p:cNvPr id="29" name="Picture 28" descr="75643f4ea93b7182beabf59adbd088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27632"/>
            <a:ext cx="4846320" cy="40522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26480" y="57530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原文 Fig.3　(a) 全部患者　(b) 50–69 岁　(c) 70–89 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Table 3、Fig.3（p.279–280）；AUC 括号内为 95% CI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讨论  /  HOW TO READ THE REGIONS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三套系统各自讲得通，但没有一处是因果证据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700784"/>
            <a:ext cx="3401568" cy="1828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828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边缘系统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3969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海马 ↑　后扣带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87168"/>
            <a:ext cx="32644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疼痛记忆与情绪编码的核心。急性期体积偏大可能是「敏化底物」而非萎缩，与慢性期海马萎缩的文献并不矛盾，属于不同时间窗。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75887"/>
            <a:ext cx="3264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可检验：纵向随访 3 个月，看基线海马体积能否预测痛觉超敏的转归。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44398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关联 · 机制待验证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9976" y="1700784"/>
            <a:ext cx="3401568" cy="1828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828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基底节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13969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尾状核 ↑　苍白球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2487168"/>
            <a:ext cx="32644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多巴胺与阿片受体富集，参与疼痛-运动整合。个案报道苍白球毁损后 PHN 缓解，但与本文「尾状核增大」的方向并未对齐。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3675887"/>
            <a:ext cx="3264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可检验：用 DTI 或静息态连接检验纹状体-丘脑通路的完整性。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444398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关联 · 有间接临床线索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700784"/>
            <a:ext cx="3401568" cy="18288"/>
          </a:xfrm>
          <a:prstGeom prst="rect">
            <a:avLst/>
          </a:prstGeom>
          <a:solidFill>
            <a:srgbClr val="7B2E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828800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额颞枕皮层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139696"/>
            <a:ext cx="34015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2E33"/>
                </a:solidFill>
                <a:latin typeface="Noto Sans SC"/>
                <a:ea typeface="Segoe UI"/>
                <a:cs typeface="Segoe UI"/>
              </a:rPr>
              <a:t>额下回 ↓　颞上回 ↓　梭状回 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87168"/>
            <a:ext cx="32644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前额叶下行调控减弱 → 疼痛易慢性化；颞叶参与感觉整合；梭状回与皮层-纹状体-枕叶网络相关。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75887"/>
            <a:ext cx="32644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Noto Sans SC"/>
                <a:ea typeface="Segoe UI"/>
                <a:cs typeface="Segoe UI"/>
              </a:rPr>
              <a:t>可检验：按受累皮节分层，检验皮层体积与感觉缺失程度的相关。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43984"/>
            <a:ext cx="3401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关联 · 与既往方向部分一致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" y="5029200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157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作者自己的解释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4132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GMV ↑ 可能反映神经元增殖或突触密度增加，GMV ↓ 多与退变相关；两者都可能只是「适应」而非损伤。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1572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我们该追问的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413248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单时间点、组水平差异、无纵向随访：无法判断是「易感体质」还是「急性期可塑」，也排除不了药物与共病。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Discussion（p.281–284）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局限与改进  / 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原文承认 5 条局限；方法学上还有 4 个追问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6642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原文自陈（Limitations）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56816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19385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样本量 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212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只做风险因素与「易损脑区」，未建预测模型；建议加 nomogram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15184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25968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全部为疼痛科住院患者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8712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NRS ≤3 的轻症被系统性排除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273552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" y="32552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未做心理评估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352958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焦虑、抑郁、认知未纳入，可能遗漏重要混杂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931920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" y="39136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仅结构 MRI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418795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未纳入 fMRI 功能连接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90288"/>
            <a:ext cx="320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无健康对照与纵向对照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未比较 HC / 急性 / 亚急性 / PHN 四组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627632"/>
            <a:ext cx="10972" cy="3611880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6642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我们的追问（方法学）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195681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口径不一致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22311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结果写 FDR、方法写 Bonferroni；摘要 N4、方法 N3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7432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无交叉验证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017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在 211 例上既筛特征又评 AUC，性能偏乐观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52958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增量未检验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380390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0.748 vs 0.733 是否统计显著？未做 DeLong 检验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31596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B1A18"/>
                </a:solidFill>
                <a:latin typeface="Noto Sans SC"/>
                <a:ea typeface="Segoe UI"/>
                <a:cs typeface="Segoe UI"/>
              </a:rPr>
              <a:t>· 单中心 1.5T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45902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ROI 数值受扫描仪与序列影响，外推性未知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340096"/>
            <a:ext cx="10765231" cy="676656"/>
          </a:xfrm>
          <a:prstGeom prst="rect">
            <a:avLst/>
          </a:prstGeom>
          <a:solidFill>
            <a:srgbClr val="EDE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" y="5449824"/>
            <a:ext cx="103080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如果让我们组接着做：嵌套交叉验证 + 校准曲线 + 决策曲线，外部多中心验证，再用 DTI/fMRI 补齐「结构之外」的证据。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" y="6254496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355080"/>
            <a:ext cx="966795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来源：原文 Limitations（p.284）、Methods（p.275）、摘要与正文的表述差异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4063" y="63550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6583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结论  /  TAKE IT BACK TO THE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280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B1A18"/>
                </a:solidFill>
                <a:latin typeface="Noto Serif SC"/>
                <a:ea typeface="Segoe UI"/>
                <a:cs typeface="Segoe UI"/>
              </a:rPr>
              <a:t>三个结论，三个可以吵起来的问题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37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6152" y="1691639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把 PHN 的年龄门槛下移到 50 岁，并确认 BMI、受累皮节（T1–T4）也是独立信号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6060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首次把「易损脑区」从横断面描述推进到个体风险预测：边缘系统与基底节体积偏大、额颞叶偏小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661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352044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影像增量有限但方向明确：联合 AUC 0.748，为后续影像组学与纵向设计提供基线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682496"/>
            <a:ext cx="10972" cy="3291840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00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组会讨论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9659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海马体积增大，更像「先天底物」还是「急性期可塑」？用什么设计能区分？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9260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8803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AUC 0.748 在什么临床场景下，值得为每个 HZ 患者加做一次 MRI？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84048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7B2E33"/>
                </a:solidFill>
                <a:latin typeface="Consolas"/>
                <a:ea typeface="Segoe UI"/>
                <a:cs typeface="Segoe UI"/>
              </a:rPr>
              <a:t>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947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A2723"/>
                </a:solidFill>
                <a:latin typeface="Noto Sans SC"/>
                <a:ea typeface="Segoe UI"/>
                <a:cs typeface="Segoe UI"/>
              </a:rPr>
              <a:t>若在我们中心复现，最大障碍是扫描协议、ROI 定义，还是样本量？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138928"/>
            <a:ext cx="10765231" cy="10972"/>
          </a:xfrm>
          <a:prstGeom prst="rect">
            <a:avLst/>
          </a:prstGeom>
          <a:solidFill>
            <a:srgbClr val="D9D1C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53218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原文：Wu D, et al. Pain Ther. 2026;15:269–289.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9612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F6A61"/>
                </a:solidFill>
                <a:latin typeface="Consolas"/>
                <a:ea typeface="Segoe UI"/>
                <a:cs typeface="Segoe UI"/>
              </a:rPr>
              <a:t>doi:10.1007/s40122-025-00796-6　开放获取（CC BY-NC 4.0）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5263" y="5394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7B2E33"/>
                </a:solidFill>
                <a:latin typeface="Noto Serif SC"/>
                <a:ea typeface="Segoe UI"/>
                <a:cs typeface="Segoe UI"/>
              </a:rPr>
              <a:t>谢谢　·　欢迎指正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